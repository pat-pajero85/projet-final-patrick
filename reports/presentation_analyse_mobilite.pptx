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0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978408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1">
                <a:solidFill>
                  <a:srgbClr val="99D6DE"/>
                </a:solidFill>
                <a:latin typeface="Aptos"/>
              </a:defRPr>
            </a:pPr>
            <a:r>
              <a:t>MOBILITÉ • PAYS DE LA LOIRE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424160" cy="1645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Analyser l’offre</a:t>
            </a:r>
            <a:br/>
            <a:r>
              <a:t>pour éclairer la desserte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99669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Aptos"/>
              </a:defRPr>
            </a:pPr>
            <a:r>
              <a:t>Analyse exploratoire et évaluation de prévisions à partir des données GTFS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96012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0">
                <a:solidFill>
                  <a:srgbClr val="CBD8E2"/>
                </a:solidFill>
                <a:latin typeface="Aptos"/>
              </a:defRPr>
            </a:pPr>
            <a:r>
              <a:t>Période étudiée : 02/04/2025 – 02/04/2027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700" b="1">
                <a:solidFill>
                  <a:srgbClr val="16304A"/>
                </a:solidFill>
                <a:latin typeface="Aptos"/>
              </a:defRPr>
            </a:pPr>
            <a:r>
              <a:t>Question métier et périmètre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731520" cy="5486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10528"/>
            <a:ext cx="97840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900" b="0">
                <a:solidFill>
                  <a:srgbClr val="62707C"/>
                </a:solidFill>
                <a:latin typeface="Aptos"/>
              </a:defRPr>
            </a:pPr>
            <a:r>
              <a:t>Analyse de l’offre de transport collectif • Pays de la Loire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00" b="0">
                <a:solidFill>
                  <a:srgbClr val="62707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640080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300" b="1">
                <a:solidFill>
                  <a:srgbClr val="16304A"/>
                </a:solidFill>
                <a:latin typeface="Aptos"/>
              </a:defRPr>
            </a:pPr>
            <a:r>
              <a:t>Comment repérer les arrêts et créneaux où l’offre théorique est la plus faible, puis estimer le niveau d’offre attendu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6400800" cy="2194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A3642"/>
                </a:solidFill>
                <a:latin typeface="Aptos"/>
              </a:defRPr>
            </a:pPr>
            <a:r>
              <a:t>•  Indicateur : nombre de départs planifiés par arrêt, date et période horaire.</a:t>
            </a:r>
          </a:p>
          <a:p>
            <a:pPr>
              <a:spcAft>
                <a:spcPts val="1200"/>
              </a:spcAft>
              <a:defRPr sz="1700">
                <a:solidFill>
                  <a:srgbClr val="2A3642"/>
                </a:solidFill>
                <a:latin typeface="Aptos"/>
              </a:defRPr>
            </a:pPr>
            <a:r>
              <a:t>•  Source principale : données GTFS du réseau DESTINEO.</a:t>
            </a:r>
          </a:p>
          <a:p>
            <a:pPr>
              <a:spcAft>
                <a:spcPts val="1200"/>
              </a:spcAft>
              <a:defRPr sz="1700">
                <a:solidFill>
                  <a:srgbClr val="2A3642"/>
                </a:solidFill>
                <a:latin typeface="Aptos"/>
              </a:defRPr>
            </a:pPr>
            <a:r>
              <a:t>•  Les résultats décrivent l’offre planifiée, pas la fréquentation, la demande ni les retards réellement observés.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874519"/>
            <a:ext cx="2468880" cy="1143000"/>
          </a:xfrm>
          <a:prstGeom prst="roundRect">
            <a:avLst/>
          </a:prstGeom>
          <a:solidFill>
            <a:srgbClr val="E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2020824"/>
            <a:ext cx="21945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500" b="1">
                <a:solidFill>
                  <a:srgbClr val="176B87"/>
                </a:solidFill>
                <a:latin typeface="Aptos"/>
              </a:defRPr>
            </a:pPr>
            <a:r>
              <a:t>4 340 584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496312"/>
            <a:ext cx="21945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200" b="0">
                <a:solidFill>
                  <a:srgbClr val="62707C"/>
                </a:solidFill>
                <a:latin typeface="Aptos"/>
              </a:defRPr>
            </a:pPr>
            <a:r>
              <a:t>observations arrêt-date-période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337560"/>
            <a:ext cx="2468880" cy="1143000"/>
          </a:xfrm>
          <a:prstGeom prst="roundRect">
            <a:avLst/>
          </a:prstGeom>
          <a:solidFill>
            <a:srgbClr val="E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3483864"/>
            <a:ext cx="21945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500" b="1">
                <a:solidFill>
                  <a:srgbClr val="D97941"/>
                </a:solidFill>
                <a:latin typeface="Aptos"/>
              </a:defRPr>
            </a:pPr>
            <a:r>
              <a:t>731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3959352"/>
            <a:ext cx="21945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200" b="0">
                <a:solidFill>
                  <a:srgbClr val="62707C"/>
                </a:solidFill>
                <a:latin typeface="Aptos"/>
              </a:defRPr>
            </a:pPr>
            <a:r>
              <a:t>dates de service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700" b="1">
                <a:solidFill>
                  <a:srgbClr val="16304A"/>
                </a:solidFill>
                <a:latin typeface="Aptos"/>
              </a:defRPr>
            </a:pPr>
            <a:r>
              <a:t>Un socle de données contrôlé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731520" cy="5486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10528"/>
            <a:ext cx="97840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900" b="0">
                <a:solidFill>
                  <a:srgbClr val="62707C"/>
                </a:solidFill>
                <a:latin typeface="Aptos"/>
              </a:defRPr>
            </a:pPr>
            <a:r>
              <a:t>Analyse de l’offre de transport collectif • Pays de la Loire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00" b="0">
                <a:solidFill>
                  <a:srgbClr val="62707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52120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000" b="1">
                <a:solidFill>
                  <a:srgbClr val="16304A"/>
                </a:solidFill>
                <a:latin typeface="Aptos"/>
              </a:defRPr>
            </a:pPr>
            <a:r>
              <a:t>Chaîne de traitement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5760720" cy="2926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A3642"/>
                </a:solidFill>
                <a:latin typeface="Aptos"/>
              </a:defRPr>
            </a:pPr>
            <a:r>
              <a:t>•  Fichiers GTFS : lignes, trajets, arrêts et horaires.</a:t>
            </a:r>
          </a:p>
          <a:p>
            <a:pPr>
              <a:spcAft>
                <a:spcPts val="1200"/>
              </a:spcAft>
              <a:defRPr sz="1600">
                <a:solidFill>
                  <a:srgbClr val="2A3642"/>
                </a:solidFill>
                <a:latin typeface="Aptos"/>
              </a:defRPr>
            </a:pPr>
            <a:r>
              <a:t>•  Contrôle et nettoyage, puis structuration relationnelle dans SQLite.</a:t>
            </a:r>
          </a:p>
          <a:p>
            <a:pPr>
              <a:spcAft>
                <a:spcPts val="1200"/>
              </a:spcAft>
              <a:defRPr sz="1600">
                <a:solidFill>
                  <a:srgbClr val="2A3642"/>
                </a:solidFill>
                <a:latin typeface="Aptos"/>
              </a:defRPr>
            </a:pPr>
            <a:r>
              <a:t>•  Vues analytiques pour agréger les départs par arrêt et période.</a:t>
            </a:r>
          </a:p>
          <a:p>
            <a:pPr>
              <a:spcAft>
                <a:spcPts val="1200"/>
              </a:spcAft>
              <a:defRPr sz="1600">
                <a:solidFill>
                  <a:srgbClr val="2A3642"/>
                </a:solidFill>
                <a:latin typeface="Aptos"/>
              </a:defRPr>
            </a:pPr>
            <a:r>
              <a:t>•  Exploration, baseline temporelle et comparaison de modèles.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645920"/>
            <a:ext cx="40233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000" b="1">
                <a:solidFill>
                  <a:srgbClr val="16304A"/>
                </a:solidFill>
                <a:latin typeface="Aptos"/>
              </a:defRPr>
            </a:pPr>
            <a:r>
              <a:t>Base de référence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2194560"/>
            <a:ext cx="2468880" cy="1143000"/>
          </a:xfrm>
          <a:prstGeom prst="roundRect">
            <a:avLst/>
          </a:prstGeom>
          <a:solidFill>
            <a:srgbClr val="E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2340864"/>
            <a:ext cx="21945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500" b="1">
                <a:solidFill>
                  <a:srgbClr val="176B87"/>
                </a:solidFill>
                <a:latin typeface="Aptos"/>
              </a:defRPr>
            </a:pPr>
            <a:r>
              <a:t>4,0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2816352"/>
            <a:ext cx="21945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200" b="0">
                <a:solidFill>
                  <a:srgbClr val="62707C"/>
                </a:solidFill>
                <a:latin typeface="Aptos"/>
              </a:defRPr>
            </a:pPr>
            <a:r>
              <a:t>passages horaires contrôlés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0" y="2194560"/>
            <a:ext cx="2468880" cy="1143000"/>
          </a:xfrm>
          <a:prstGeom prst="roundRect">
            <a:avLst/>
          </a:prstGeom>
          <a:solidFill>
            <a:srgbClr val="E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21240" y="2340864"/>
            <a:ext cx="21945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500" b="1">
                <a:solidFill>
                  <a:srgbClr val="176B87"/>
                </a:solidFill>
                <a:latin typeface="Aptos"/>
              </a:defRPr>
            </a:pPr>
            <a:r>
              <a:t>20 170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21240" y="2816352"/>
            <a:ext cx="21945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200" b="0">
                <a:solidFill>
                  <a:srgbClr val="62707C"/>
                </a:solidFill>
                <a:latin typeface="Aptos"/>
              </a:defRPr>
            </a:pPr>
            <a:r>
              <a:t>arrêts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3657600"/>
            <a:ext cx="2468880" cy="1143000"/>
          </a:xfrm>
          <a:prstGeom prst="roundRect">
            <a:avLst/>
          </a:prstGeom>
          <a:solidFill>
            <a:srgbClr val="E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3803904"/>
            <a:ext cx="21945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500" b="1">
                <a:solidFill>
                  <a:srgbClr val="D97941"/>
                </a:solidFill>
                <a:latin typeface="Aptos"/>
              </a:defRPr>
            </a:pPr>
            <a:r>
              <a:t>182 725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4279392"/>
            <a:ext cx="21945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200" b="0">
                <a:solidFill>
                  <a:srgbClr val="62707C"/>
                </a:solidFill>
                <a:latin typeface="Aptos"/>
              </a:defRPr>
            </a:pPr>
            <a:r>
              <a:t>trajets planifiés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3657600"/>
            <a:ext cx="2468880" cy="1143000"/>
          </a:xfrm>
          <a:prstGeom prst="roundRect">
            <a:avLst/>
          </a:prstGeom>
          <a:solidFill>
            <a:srgbClr val="E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21240" y="3803904"/>
            <a:ext cx="21945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500" b="1">
                <a:solidFill>
                  <a:srgbClr val="176B87"/>
                </a:solidFill>
                <a:latin typeface="Aptos"/>
              </a:defRPr>
            </a:pPr>
            <a:r>
              <a:t>1 029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4279392"/>
            <a:ext cx="21945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200" b="0">
                <a:solidFill>
                  <a:srgbClr val="62707C"/>
                </a:solidFill>
                <a:latin typeface="Aptos"/>
              </a:defRPr>
            </a:pPr>
            <a:r>
              <a:t>lignes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5303520"/>
            <a:ext cx="43891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0">
                <a:solidFill>
                  <a:srgbClr val="62707C"/>
                </a:solidFill>
                <a:latin typeface="Aptos"/>
              </a:defRPr>
            </a:pPr>
            <a:r>
              <a:t>Couverture analytique : 02/04/2025 au 02/04/2027.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700" b="1">
                <a:solidFill>
                  <a:srgbClr val="16304A"/>
                </a:solidFill>
                <a:latin typeface="Aptos"/>
              </a:defRPr>
            </a:pPr>
            <a:r>
              <a:t>L’offre varie selon l’heure et le type de jour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731520" cy="5486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10528"/>
            <a:ext cx="97840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900" b="0">
                <a:solidFill>
                  <a:srgbClr val="62707C"/>
                </a:solidFill>
                <a:latin typeface="Aptos"/>
              </a:defRPr>
            </a:pPr>
            <a:r>
              <a:t>Analyse de l’offre de transport collectif • Pays de la Loire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00" b="0">
                <a:solidFill>
                  <a:srgbClr val="62707C"/>
                </a:solidFill>
                <a:latin typeface="Aptos"/>
              </a:defRPr>
            </a:pPr>
            <a:r>
              <a:t>4</a:t>
            </a:r>
          </a:p>
        </p:txBody>
      </p:sp>
      <p:pic>
        <p:nvPicPr>
          <p:cNvPr id="6" name="Picture 5" descr="etape4_h1_offre_par_peri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54480"/>
            <a:ext cx="5486400" cy="3063240"/>
          </a:xfrm>
          <a:prstGeom prst="rect">
            <a:avLst/>
          </a:prstGeom>
        </p:spPr>
      </p:pic>
      <p:pic>
        <p:nvPicPr>
          <p:cNvPr id="7" name="Picture 6" descr="etape4_h2_offre_jours_ouvres_week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54480"/>
            <a:ext cx="5212080" cy="3063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4828032"/>
            <a:ext cx="1069848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0">
                <a:solidFill>
                  <a:srgbClr val="2A3642"/>
                </a:solidFill>
                <a:latin typeface="Aptos"/>
              </a:defRPr>
            </a:pPr>
            <a:r>
              <a:t>Pointes les plus élevées : evening_peak (8,82 départs moyens). Creux : night (2,54).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486400"/>
            <a:ext cx="106984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1">
                <a:solidFill>
                  <a:srgbClr val="176B87"/>
                </a:solidFill>
                <a:latin typeface="Aptos"/>
              </a:defRPr>
            </a:pPr>
            <a:r>
              <a:t>Jours ouvrés : 7,78 départs moyens ; week-end : 6,02, soit une baisse d’environ 22,7 %.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700" b="1">
                <a:solidFill>
                  <a:srgbClr val="16304A"/>
                </a:solidFill>
                <a:latin typeface="Aptos"/>
              </a:defRPr>
            </a:pPr>
            <a:r>
              <a:t>Le nombre de lignes est associé à l’offre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731520" cy="5486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10528"/>
            <a:ext cx="97840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900" b="0">
                <a:solidFill>
                  <a:srgbClr val="62707C"/>
                </a:solidFill>
                <a:latin typeface="Aptos"/>
              </a:defRPr>
            </a:pPr>
            <a:r>
              <a:t>Analyse de l’offre de transport collectif • Pays de la Loire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00" b="0">
                <a:solidFill>
                  <a:srgbClr val="62707C"/>
                </a:solidFill>
                <a:latin typeface="Aptos"/>
              </a:defRPr>
            </a:pPr>
            <a:r>
              <a:t>5</a:t>
            </a:r>
          </a:p>
        </p:txBody>
      </p:sp>
      <p:pic>
        <p:nvPicPr>
          <p:cNvPr id="6" name="Picture 5" descr="etape4_h3_correlation_lignes_dep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5669280" cy="3337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995160" y="1828800"/>
            <a:ext cx="2468880" cy="1143000"/>
          </a:xfrm>
          <a:prstGeom prst="roundRect">
            <a:avLst/>
          </a:prstGeom>
          <a:solidFill>
            <a:srgbClr val="E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975104"/>
            <a:ext cx="21945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500" b="1">
                <a:solidFill>
                  <a:srgbClr val="176B87"/>
                </a:solidFill>
                <a:latin typeface="Aptos"/>
              </a:defRPr>
            </a:pPr>
            <a:r>
              <a:t>0,4036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450592"/>
            <a:ext cx="21945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200" b="0">
                <a:solidFill>
                  <a:srgbClr val="62707C"/>
                </a:solidFill>
                <a:latin typeface="Aptos"/>
              </a:defRPr>
            </a:pPr>
            <a:r>
              <a:t>corrélation de Pearson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95160" y="3246120"/>
            <a:ext cx="2468880" cy="1143000"/>
          </a:xfrm>
          <a:prstGeom prst="roundRect">
            <a:avLst/>
          </a:prstGeom>
          <a:solidFill>
            <a:srgbClr val="E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3392424"/>
            <a:ext cx="21945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500" b="1">
                <a:solidFill>
                  <a:srgbClr val="D97941"/>
                </a:solidFill>
                <a:latin typeface="Aptos"/>
              </a:defRPr>
            </a:pPr>
            <a:r>
              <a:t>0,4319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867911"/>
            <a:ext cx="21945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200" b="0">
                <a:solidFill>
                  <a:srgbClr val="62707C"/>
                </a:solidFill>
                <a:latin typeface="Aptos"/>
              </a:defRPr>
            </a:pPr>
            <a:r>
              <a:t>corrélation de Spearman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4754880"/>
            <a:ext cx="411480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600" b="0">
                <a:solidFill>
                  <a:srgbClr val="2A3642"/>
                </a:solidFill>
                <a:latin typeface="Aptos"/>
              </a:defRPr>
            </a:pPr>
            <a:r>
              <a:t>La relation positive est modérée : plusieurs lignes vont souvent de pair avec davantage de départs, sans démontrer une causalité ni expliquer seules le niveau d’offre.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700" b="1">
                <a:solidFill>
                  <a:srgbClr val="16304A"/>
                </a:solidFill>
                <a:latin typeface="Aptos"/>
              </a:defRPr>
            </a:pPr>
            <a:r>
              <a:t>Prédire : la baseline historique reste la référence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731520" cy="5486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10528"/>
            <a:ext cx="97840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900" b="0">
                <a:solidFill>
                  <a:srgbClr val="62707C"/>
                </a:solidFill>
                <a:latin typeface="Aptos"/>
              </a:defRPr>
            </a:pPr>
            <a:r>
              <a:t>Analyse de l’offre de transport collectif • Pays de la Loire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00" b="0">
                <a:solidFill>
                  <a:srgbClr val="62707C"/>
                </a:solidFill>
                <a:latin typeface="Aptos"/>
              </a:defRPr>
            </a:pPr>
            <a: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737360"/>
          <a:ext cx="105156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9149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Candidat</a:t>
                      </a:r>
                    </a:p>
                  </a:txBody>
                  <a:tcPr anchor="ctr">
                    <a:solidFill>
                      <a:srgbClr val="1630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MAE validation</a:t>
                      </a:r>
                    </a:p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(3 fenêtres)</a:t>
                      </a:r>
                    </a:p>
                  </a:txBody>
                  <a:tcPr anchor="ctr">
                    <a:solidFill>
                      <a:srgbClr val="1630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MAE test final</a:t>
                      </a:r>
                    </a:p>
                  </a:txBody>
                  <a:tcPr anchor="ctr">
                    <a:solidFill>
                      <a:srgbClr val="1630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RMSE test final</a:t>
                      </a:r>
                    </a:p>
                  </a:txBody>
                  <a:tcPr anchor="ctr">
                    <a:solidFill>
                      <a:srgbClr val="16304A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642"/>
                          </a:solidFill>
                          <a:latin typeface="Aptos"/>
                        </a:defRPr>
                      </a:pPr>
                      <a:r>
                        <a:t>Baseline historique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642"/>
                          </a:solidFill>
                          <a:latin typeface="Aptos"/>
                        </a:defRPr>
                      </a:pPr>
                      <a:r>
                        <a:t>0,5168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642"/>
                          </a:solidFill>
                          <a:latin typeface="Aptos"/>
                        </a:defRPr>
                      </a:pPr>
                      <a:r>
                        <a:t>0,1724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642"/>
                          </a:solidFill>
                          <a:latin typeface="Aptos"/>
                        </a:defRPr>
                      </a:pPr>
                      <a:r>
                        <a:t>0,1830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642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642"/>
                          </a:solidFill>
                          <a:latin typeface="Aptos"/>
                        </a:defRPr>
                      </a:pPr>
                      <a:r>
                        <a:t>0,7641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642"/>
                          </a:solidFill>
                          <a:latin typeface="Aptos"/>
                        </a:defRPr>
                      </a:pPr>
                      <a:r>
                        <a:t>0,3162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642"/>
                          </a:solidFill>
                          <a:latin typeface="Aptos"/>
                        </a:defRPr>
                      </a:pPr>
                      <a:r>
                        <a:t>0,6279</a:t>
                      </a:r>
                    </a:p>
                  </a:txBody>
                  <a:tcPr anchor="ctr">
                    <a:solidFill>
                      <a:srgbClr val="EFF5F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642"/>
                          </a:solidFill>
                          <a:latin typeface="Aptos"/>
                        </a:defRPr>
                      </a:pPr>
                      <a:r>
                        <a:t>Hist. Gradient Boosting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642"/>
                          </a:solidFill>
                          <a:latin typeface="Aptos"/>
                        </a:defRPr>
                      </a:pPr>
                      <a:r>
                        <a:t>0,9106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642"/>
                          </a:solidFill>
                          <a:latin typeface="Aptos"/>
                        </a:defRPr>
                      </a:pPr>
                      <a:r>
                        <a:t>0,3294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A3642"/>
                          </a:solidFill>
                          <a:latin typeface="Aptos"/>
                        </a:defRPr>
                      </a:pPr>
                      <a:r>
                        <a:t>0,4390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160520"/>
            <a:ext cx="101498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700" b="1">
                <a:solidFill>
                  <a:srgbClr val="176B87"/>
                </a:solidFill>
                <a:latin typeface="Aptos"/>
              </a:defRPr>
            </a:pPr>
            <a:r>
              <a:t>Choix selon la validation chronologique : historical_baseline (MAE moyenne 0,5168).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1014984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500" b="0">
                <a:solidFill>
                  <a:srgbClr val="2A3642"/>
                </a:solidFill>
                <a:latin typeface="Aptos"/>
              </a:defRPr>
            </a:pPr>
            <a:r>
              <a:t>Évaluation finale réservée : 588 observations, 147 dates, du 07/11/2026 au 02/04/2027. La MAE mesure l’écart absolu moyen en départs planifiés ; plus elle est faible, mieux c’est.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1014984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0">
                <a:solidFill>
                  <a:srgbClr val="62707C"/>
                </a:solidFill>
                <a:latin typeface="Aptos"/>
              </a:defRPr>
            </a:pPr>
            <a:r>
              <a:t>Le choix du modèle est fondé sur la validation, et non sur l’optimisation a posteriori du test final.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700" b="1">
                <a:solidFill>
                  <a:srgbClr val="16304A"/>
                </a:solidFill>
                <a:latin typeface="Aptos"/>
              </a:defRPr>
            </a:pPr>
            <a:r>
              <a:t>Limites et pistes pour la décision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25880"/>
            <a:ext cx="731520" cy="5486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10528"/>
            <a:ext cx="97840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900" b="0">
                <a:solidFill>
                  <a:srgbClr val="62707C"/>
                </a:solidFill>
                <a:latin typeface="Aptos"/>
              </a:defRPr>
            </a:pPr>
            <a:r>
              <a:t>Analyse de l’offre de transport collectif • Pays de la Loire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00" b="0">
                <a:solidFill>
                  <a:srgbClr val="62707C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3474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A3642"/>
                </a:solidFill>
                <a:latin typeface="Aptos"/>
              </a:defRPr>
            </a:pPr>
            <a:r>
              <a:t>•  Qualite et biais des donnees : Le GTFS decrit une offre planifiee, avec des arrets hors emprise et des champs facultatifs incomplets.</a:t>
            </a:r>
          </a:p>
          <a:p>
            <a:pPr>
              <a:spcAft>
                <a:spcPts val="1200"/>
              </a:spcAft>
              <a:defRPr sz="1500">
                <a:solidFill>
                  <a:srgbClr val="2A3642"/>
                </a:solidFill>
                <a:latin typeface="Aptos"/>
              </a:defRPr>
            </a:pPr>
            <a:r>
              <a:t>•  Risque modele : Les variables de calendrier et de planning expliquent l'offre mais ne prouvent pas un besoin de mobilite; un changement de reseau peut rendre le modele obsolete.</a:t>
            </a:r>
          </a:p>
          <a:p>
            <a:pPr>
              <a:spcAft>
                <a:spcPts val="1200"/>
              </a:spcAft>
              <a:defRPr sz="1500">
                <a:solidFill>
                  <a:srgbClr val="2A3642"/>
                </a:solidFill>
                <a:latin typeface="Aptos"/>
              </a:defRPr>
            </a:pPr>
            <a:r>
              <a:t>•  Deploiement : Un modele entraine sur un feed local peut recevoir des colonnes, des dates ou des modalites inconnues en production.</a:t>
            </a:r>
          </a:p>
          <a:p>
            <a:pPr>
              <a:spcAft>
                <a:spcPts val="1200"/>
              </a:spcAft>
              <a:defRPr sz="1500">
                <a:solidFill>
                  <a:srgbClr val="2A3642"/>
                </a:solidFill>
                <a:latin typeface="Aptos"/>
              </a:defRPr>
            </a:pPr>
            <a:r>
              <a:t>•  Ethique : Un indicateur de faible offre peut concentrer les arbitrages sur des territoires deja moins desservis sans mesurer les populations concernees.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349240"/>
            <a:ext cx="1033272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700" b="1">
                <a:solidFill>
                  <a:srgbClr val="176B87"/>
                </a:solidFill>
                <a:latin typeface="Aptos"/>
              </a:defRPr>
            </a:pPr>
            <a:r>
              <a:t>À retenir : utiliser ces résultats comme aide à l’analyse, puis les compléter par la fréquentation réelle, les retards, la demande locale et une validation métier avant tout arbitrage de desserte.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